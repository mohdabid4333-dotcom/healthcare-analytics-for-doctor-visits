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Istok Web"/>
      <p:regular r:id="rId201314"/>
    </p:embeddedFont>
    <p:embeddedFont>
      <p:font typeface="Istok Web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1929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86840" y="6483152"/>
            <a:ext cx="320418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946B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253" y="1382713"/>
            <a:ext cx="1229488" cy="1059855"/>
          </a:xfrm>
          <a:custGeom>
            <a:avLst/>
            <a:gdLst/>
            <a:ahLst/>
            <a:cxnLst/>
            <a:rect l="l" t="t" r="r" b="b"/>
            <a:pathLst>
              <a:path w="1229488" h="1059855">
                <a:moveTo>
                  <a:pt x="264955" y="0"/>
                </a:moveTo>
                <a:lnTo>
                  <a:pt x="964533" y="0"/>
                </a:lnTo>
                <a:lnTo>
                  <a:pt x="1229488" y="529927"/>
                </a:lnTo>
                <a:lnTo>
                  <a:pt x="964533" y="1059855"/>
                </a:lnTo>
                <a:lnTo>
                  <a:pt x="264955" y="1059855"/>
                </a:lnTo>
                <a:lnTo>
                  <a:pt x="0" y="529927"/>
                </a:lnTo>
                <a:close/>
              </a:path>
            </a:pathLst>
          </a:custGeom>
          <a:solidFill>
            <a:srgbClr val="5FCBEF"/>
          </a:solidFill>
          <a:ln/>
        </p:spPr>
      </p:sp>
      <p:sp>
        <p:nvSpPr>
          <p:cNvPr id="15" name="Shape 12"/>
          <p:cNvSpPr/>
          <p:nvPr/>
        </p:nvSpPr>
        <p:spPr>
          <a:xfrm>
            <a:off x="3754840" y="1194495"/>
            <a:ext cx="1666040" cy="1436291"/>
          </a:xfrm>
          <a:custGeom>
            <a:avLst/>
            <a:gdLst/>
            <a:ahLst/>
            <a:cxnLst/>
            <a:rect l="l" t="t" r="r" b="b"/>
            <a:pathLst>
              <a:path w="1666040" h="1436291">
                <a:moveTo>
                  <a:pt x="359032" y="0"/>
                </a:moveTo>
                <a:lnTo>
                  <a:pt x="1307008" y="0"/>
                </a:lnTo>
                <a:lnTo>
                  <a:pt x="1666040" y="718145"/>
                </a:lnTo>
                <a:lnTo>
                  <a:pt x="1307008" y="1436291"/>
                </a:lnTo>
                <a:lnTo>
                  <a:pt x="359032" y="1436291"/>
                </a:lnTo>
                <a:lnTo>
                  <a:pt x="0" y="718145"/>
                </a:lnTo>
                <a:close/>
              </a:path>
            </a:pathLst>
          </a:custGeom>
          <a:solidFill>
            <a:srgbClr val="42D0A2"/>
          </a:solidFill>
          <a:ln/>
        </p:spPr>
      </p:sp>
      <p:sp>
        <p:nvSpPr>
          <p:cNvPr id="16" name="Shape 13"/>
          <p:cNvSpPr/>
          <p:nvPr/>
        </p:nvSpPr>
        <p:spPr>
          <a:xfrm>
            <a:off x="3804944" y="5233095"/>
            <a:ext cx="718227" cy="619224"/>
          </a:xfrm>
          <a:custGeom>
            <a:avLst/>
            <a:gdLst/>
            <a:ahLst/>
            <a:cxnLst/>
            <a:rect l="l" t="t" r="r" b="b"/>
            <a:pathLst>
              <a:path w="718227" h="619224">
                <a:moveTo>
                  <a:pt x="154778" y="0"/>
                </a:moveTo>
                <a:lnTo>
                  <a:pt x="563449" y="0"/>
                </a:lnTo>
                <a:lnTo>
                  <a:pt x="718227" y="309612"/>
                </a:lnTo>
                <a:lnTo>
                  <a:pt x="563449" y="619224"/>
                </a:lnTo>
                <a:lnTo>
                  <a:pt x="154778" y="619224"/>
                </a:lnTo>
                <a:lnTo>
                  <a:pt x="0" y="309612"/>
                </a:lnTo>
                <a:close/>
              </a:path>
            </a:pathLst>
          </a:custGeom>
          <a:solidFill>
            <a:srgbClr val="42B051"/>
          </a:solidFill>
          <a:ln/>
        </p:spPr>
      </p:sp>
      <p:sp>
        <p:nvSpPr>
          <p:cNvPr id="17" name="Shape 14"/>
          <p:cNvSpPr/>
          <p:nvPr/>
        </p:nvSpPr>
        <p:spPr>
          <a:xfrm>
            <a:off x="1837684" y="1101328"/>
            <a:ext cx="651553" cy="561677"/>
          </a:xfrm>
          <a:custGeom>
            <a:avLst/>
            <a:gdLst/>
            <a:ahLst/>
            <a:cxnLst/>
            <a:rect l="l" t="t" r="r" b="b"/>
            <a:pathLst>
              <a:path w="651553" h="561677">
                <a:moveTo>
                  <a:pt x="140410" y="0"/>
                </a:moveTo>
                <a:lnTo>
                  <a:pt x="511144" y="0"/>
                </a:lnTo>
                <a:lnTo>
                  <a:pt x="651553" y="280839"/>
                </a:lnTo>
                <a:lnTo>
                  <a:pt x="511144" y="561677"/>
                </a:lnTo>
                <a:lnTo>
                  <a:pt x="140410" y="561677"/>
                </a:lnTo>
                <a:lnTo>
                  <a:pt x="0" y="280839"/>
                </a:lnTo>
                <a:close/>
              </a:path>
            </a:pathLst>
          </a:custGeom>
          <a:solidFill>
            <a:srgbClr val="2E946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4112" y="4131766"/>
            <a:ext cx="39101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Mehak Abid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B.Tech. CSE | Jamia Hamdard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VOIS × AICTE TIRTC DIY Project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4112" y="2006798"/>
            <a:ext cx="4849989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Healthcare Analytics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for Doctor Visits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71374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1929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86840" y="6483152"/>
            <a:ext cx="320418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946B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581613" y="5365651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5" name="Shape 12"/>
          <p:cNvSpPr/>
          <p:nvPr/>
        </p:nvSpPr>
        <p:spPr>
          <a:xfrm>
            <a:off x="9581613" y="5899448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846" y="2932509"/>
            <a:ext cx="2760593" cy="32643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45918" y="667445"/>
            <a:ext cx="8431101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PROBLEM  STATEMENT</a:t>
            </a:r>
            <a:endParaRPr lang="en-US" sz="4300" dirty="0"/>
          </a:p>
        </p:txBody>
      </p:sp>
      <p:sp>
        <p:nvSpPr>
          <p:cNvPr id="18" name="Text 14"/>
          <p:cNvSpPr/>
          <p:nvPr/>
        </p:nvSpPr>
        <p:spPr>
          <a:xfrm>
            <a:off x="845918" y="1833860"/>
            <a:ext cx="8431101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Analyze patient visit data to identify which groups visit doctors more frequently. Explore how illness, health status, and chronic conditions relate to visit patterns. Provide data-driven insights to help hospital management improve healthcare services.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71374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1929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09" y="6410424"/>
            <a:ext cx="3706124" cy="2959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86840" y="6483152"/>
            <a:ext cx="320418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946B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6" name="Shape 12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7" name="Shape 13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8" name="Text 14"/>
          <p:cNvSpPr/>
          <p:nvPr/>
        </p:nvSpPr>
        <p:spPr>
          <a:xfrm>
            <a:off x="751762" y="730250"/>
            <a:ext cx="6127398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Project Description</a:t>
            </a:r>
            <a:endParaRPr lang="en-US" sz="4300" dirty="0"/>
          </a:p>
        </p:txBody>
      </p:sp>
      <p:sp>
        <p:nvSpPr>
          <p:cNvPr id="19" name="Text 15"/>
          <p:cNvSpPr/>
          <p:nvPr/>
        </p:nvSpPr>
        <p:spPr>
          <a:xfrm>
            <a:off x="730232" y="1905000"/>
            <a:ext cx="7734107" cy="4053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55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Python-based exploratory analysis of demographic, health, financial and chronic-condition data.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5,190 records · 13 original columns</a:t>
            </a:r>
            <a:endParaRPr lang="en-US" sz="2200" dirty="0"/>
          </a:p>
          <a:p>
            <a:pPr algn="l" indent="0" marL="0">
              <a:lnSpc>
                <a:spcPct val="100000"/>
              </a:lnSpc>
              <a:spcAft>
                <a:spcPts val="355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0 missing values · 5,190 unique record IDs</a:t>
            </a:r>
            <a:endParaRPr lang="en-US" sz="2200" dirty="0"/>
          </a:p>
          <a:p>
            <a:pPr algn="l" indent="0" marL="0">
              <a:lnSpc>
                <a:spcPct val="100000"/>
              </a:lnSpc>
              <a:spcAft>
                <a:spcPts val="355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Workflow: load, quality-check and preprocess; univariate, bivariate and multivariate analysis; correlations and pattern interpretation.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“Unnamed: 0” is a record identifier, excluded from analysis.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02" y="6176764"/>
            <a:ext cx="2181170" cy="4857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86840" y="6483152"/>
            <a:ext cx="320418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946B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5" name="Shape 12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6" name="Shape 13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7" name="Text 14"/>
          <p:cNvSpPr/>
          <p:nvPr/>
        </p:nvSpPr>
        <p:spPr>
          <a:xfrm>
            <a:off x="812680" y="2036961"/>
            <a:ext cx="7725673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0404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Healthcare Analysts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04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— Explore dataset patterns.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0404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Students &amp; Educators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04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— Learn analysis and visualization.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0404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Healthcare Researchers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04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— Study factors associated with doctor visits.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0404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Data-Driven Decision Makers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04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— Review patterns for further analysis.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1281" y="832842"/>
            <a:ext cx="9897220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WHO ARE THE END USERS?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86840" y="6483152"/>
            <a:ext cx="320418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946B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2641" y="443210"/>
            <a:ext cx="361941" cy="361950"/>
          </a:xfrm>
          <a:prstGeom prst="ellipse">
            <a:avLst/>
          </a:prstGeom>
          <a:solidFill>
            <a:srgbClr val="EBEB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06854" y="5605959"/>
            <a:ext cx="654133" cy="654149"/>
          </a:xfrm>
          <a:prstGeom prst="ellipse">
            <a:avLst/>
          </a:prstGeom>
          <a:solidFill>
            <a:srgbClr val="2E83C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83409" y="6132413"/>
            <a:ext cx="251116" cy="251123"/>
          </a:xfrm>
          <a:prstGeom prst="ellipse">
            <a:avLst/>
          </a:prstGeom>
          <a:solidFill>
            <a:srgbClr val="2E946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09" y="6410424"/>
            <a:ext cx="3706124" cy="29597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" y="3820120"/>
            <a:ext cx="1727157" cy="30099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1993" y="1478161"/>
            <a:ext cx="8844634" cy="1828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Programming &amp; Environment: Python · Google Colab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Data Analysis: Pandas · NumPy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Data Visualization: Matplotlib · Seaborn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Analysis Techniques: Univariate · Bivariate · Multivariate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Grouped Statistics · Correlation Analysis · Load → Clean → Analyze → Visualize → Interpret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51762" y="430510"/>
            <a:ext cx="5157559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Technology Used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51762" y="6483152"/>
            <a:ext cx="536075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83C3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10/3/2026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1929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86840" y="6483152"/>
            <a:ext cx="320418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946B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6" name="Shape 13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7" name="Shape 14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8" name="Text 15"/>
          <p:cNvSpPr/>
          <p:nvPr/>
        </p:nvSpPr>
        <p:spPr>
          <a:xfrm>
            <a:off x="767239" y="370582"/>
            <a:ext cx="8233264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Results &amp; Key Insights</a:t>
            </a: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898503" y="1421507"/>
            <a:ext cx="41265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40404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Observed associations · 5,190 records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57229" y="2159000"/>
            <a:ext cx="2171646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Doctor visits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Summary statistics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57229" y="3134320"/>
            <a:ext cx="2171646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Mean </a:t>
            </a:r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0.302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Median </a:t>
            </a:r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Maximum </a:t>
            </a:r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9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3359066" y="2159000"/>
            <a:ext cx="2171646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Gender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Average visits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359066" y="2857500"/>
            <a:ext cx="27812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Female · 0.362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3301917" y="3200400"/>
            <a:ext cx="1379106" cy="177800"/>
          </a:xfrm>
          <a:prstGeom prst="roundRect">
            <a:avLst>
              <a:gd name="adj" fmla="val 19285"/>
            </a:avLst>
          </a:prstGeom>
          <a:solidFill>
            <a:srgbClr val="2E83C3"/>
          </a:solidFill>
          <a:ln/>
        </p:spPr>
      </p:sp>
      <p:sp>
        <p:nvSpPr>
          <p:cNvPr id="25" name="Text 22"/>
          <p:cNvSpPr/>
          <p:nvPr/>
        </p:nvSpPr>
        <p:spPr>
          <a:xfrm>
            <a:off x="3359066" y="3581400"/>
            <a:ext cx="27812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Male · 0.236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301917" y="3924300"/>
            <a:ext cx="899098" cy="177800"/>
          </a:xfrm>
          <a:prstGeom prst="roundRect">
            <a:avLst>
              <a:gd name="adj" fmla="val 19285"/>
            </a:avLst>
          </a:prstGeom>
          <a:solidFill>
            <a:srgbClr val="2E946B"/>
          </a:solidFill>
          <a:ln/>
        </p:spPr>
      </p:sp>
      <p:sp>
        <p:nvSpPr>
          <p:cNvPr id="27" name="Text 24"/>
          <p:cNvSpPr/>
          <p:nvPr/>
        </p:nvSpPr>
        <p:spPr>
          <a:xfrm>
            <a:off x="5797405" y="2159000"/>
            <a:ext cx="386070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Correlation with visits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797405" y="2667000"/>
            <a:ext cx="1320767" cy="106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Reduced activity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Illness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Health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Age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Income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238819" y="2667000"/>
            <a:ext cx="12700" cy="1524000"/>
          </a:xfrm>
          <a:prstGeom prst="roundRect">
            <a:avLst>
              <a:gd name="adj" fmla="val 49999"/>
            </a:avLst>
          </a:prstGeom>
          <a:solidFill>
            <a:srgbClr val="404040"/>
          </a:solidFill>
          <a:ln/>
        </p:spPr>
      </p:sp>
      <p:sp>
        <p:nvSpPr>
          <p:cNvPr id="30" name="Shape 27"/>
          <p:cNvSpPr/>
          <p:nvPr/>
        </p:nvSpPr>
        <p:spPr>
          <a:xfrm>
            <a:off x="7251519" y="2717800"/>
            <a:ext cx="1064194" cy="127000"/>
          </a:xfrm>
          <a:prstGeom prst="roundRect">
            <a:avLst>
              <a:gd name="adj" fmla="val 26999"/>
            </a:avLst>
          </a:prstGeom>
          <a:solidFill>
            <a:srgbClr val="2E83C3"/>
          </a:solidFill>
          <a:ln/>
        </p:spPr>
      </p:sp>
      <p:sp>
        <p:nvSpPr>
          <p:cNvPr id="31" name="Shape 28"/>
          <p:cNvSpPr/>
          <p:nvPr/>
        </p:nvSpPr>
        <p:spPr>
          <a:xfrm>
            <a:off x="7251519" y="3009900"/>
            <a:ext cx="568906" cy="127000"/>
          </a:xfrm>
          <a:prstGeom prst="roundRect">
            <a:avLst>
              <a:gd name="adj" fmla="val 26999"/>
            </a:avLst>
          </a:prstGeom>
          <a:solidFill>
            <a:srgbClr val="2E83C3"/>
          </a:solidFill>
          <a:ln/>
        </p:spPr>
      </p:sp>
      <p:sp>
        <p:nvSpPr>
          <p:cNvPr id="32" name="Shape 29"/>
          <p:cNvSpPr/>
          <p:nvPr/>
        </p:nvSpPr>
        <p:spPr>
          <a:xfrm>
            <a:off x="7251519" y="3302000"/>
            <a:ext cx="490128" cy="127000"/>
          </a:xfrm>
          <a:prstGeom prst="roundRect">
            <a:avLst>
              <a:gd name="adj" fmla="val 26999"/>
            </a:avLst>
          </a:prstGeom>
          <a:solidFill>
            <a:srgbClr val="2E83C3"/>
          </a:solidFill>
          <a:ln/>
        </p:spPr>
      </p:sp>
      <p:sp>
        <p:nvSpPr>
          <p:cNvPr id="33" name="Shape 30"/>
          <p:cNvSpPr/>
          <p:nvPr/>
        </p:nvSpPr>
        <p:spPr>
          <a:xfrm>
            <a:off x="7251519" y="3594100"/>
            <a:ext cx="317492" cy="127000"/>
          </a:xfrm>
          <a:prstGeom prst="roundRect">
            <a:avLst>
              <a:gd name="adj" fmla="val 26999"/>
            </a:avLst>
          </a:prstGeom>
          <a:solidFill>
            <a:srgbClr val="2E83C3"/>
          </a:solidFill>
          <a:ln/>
        </p:spPr>
      </p:sp>
      <p:sp>
        <p:nvSpPr>
          <p:cNvPr id="34" name="Shape 31"/>
          <p:cNvSpPr/>
          <p:nvPr/>
        </p:nvSpPr>
        <p:spPr>
          <a:xfrm>
            <a:off x="7043164" y="3886200"/>
            <a:ext cx="195555" cy="127000"/>
          </a:xfrm>
          <a:prstGeom prst="roundRect">
            <a:avLst>
              <a:gd name="adj" fmla="val 26999"/>
            </a:avLst>
          </a:prstGeom>
          <a:solidFill>
            <a:srgbClr val="2E946B"/>
          </a:solidFill>
          <a:ln/>
        </p:spPr>
      </p:sp>
      <p:sp>
        <p:nvSpPr>
          <p:cNvPr id="35" name="Text 32"/>
          <p:cNvSpPr/>
          <p:nvPr/>
        </p:nvSpPr>
        <p:spPr>
          <a:xfrm>
            <a:off x="8464338" y="2667000"/>
            <a:ext cx="647684" cy="106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0.419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0.224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0.193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0.125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-0.077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57229" y="4572000"/>
            <a:ext cx="8140496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Reduced activity: strongest correlation among numerical variables analyzed.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Illness score 0 → 5: average visits 0.079 → 0.814.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Long-term chronic condition: Yes 0.603 vs No 0.262.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These relationships describe associations, not causation.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5" name="Shape 12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6" name="Text 13"/>
          <p:cNvSpPr/>
          <p:nvPr/>
        </p:nvSpPr>
        <p:spPr>
          <a:xfrm>
            <a:off x="315706" y="604143"/>
            <a:ext cx="4969544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   Results</a:t>
            </a:r>
            <a:endParaRPr lang="en-US" sz="4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06" y="1792784"/>
            <a:ext cx="4969544" cy="3736975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548" y="1807369"/>
            <a:ext cx="6523172" cy="3733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5" name="Shape 12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6" name="Text 13"/>
          <p:cNvSpPr/>
          <p:nvPr/>
        </p:nvSpPr>
        <p:spPr>
          <a:xfrm>
            <a:off x="315706" y="952996"/>
            <a:ext cx="5187225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   Results</a:t>
            </a:r>
            <a:endParaRPr lang="en-US" sz="4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06" y="2141637"/>
            <a:ext cx="5187225" cy="3137297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272" y="1705372"/>
            <a:ext cx="5981550" cy="45263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5" name="Shape 12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6" name="Text 13"/>
          <p:cNvSpPr/>
          <p:nvPr/>
        </p:nvSpPr>
        <p:spPr>
          <a:xfrm>
            <a:off x="767239" y="370582"/>
            <a:ext cx="2833021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Results</a:t>
            </a:r>
            <a:endParaRPr lang="en-US" sz="4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58" y="2157016"/>
            <a:ext cx="5348451" cy="3292971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507" y="2316857"/>
            <a:ext cx="6100213" cy="34136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5" name="Shape 12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6" name="Text 13"/>
          <p:cNvSpPr/>
          <p:nvPr/>
        </p:nvSpPr>
        <p:spPr>
          <a:xfrm>
            <a:off x="767239" y="370582"/>
            <a:ext cx="2833021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Results</a:t>
            </a:r>
            <a:endParaRPr lang="en-US" sz="4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06" y="1878707"/>
            <a:ext cx="5511265" cy="3138984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269" y="1900337"/>
            <a:ext cx="5981550" cy="40873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5" name="Shape 12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6" name="Text 13"/>
          <p:cNvSpPr/>
          <p:nvPr/>
        </p:nvSpPr>
        <p:spPr>
          <a:xfrm>
            <a:off x="767239" y="370582"/>
            <a:ext cx="2833021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Results</a:t>
            </a:r>
            <a:endParaRPr lang="en-US" sz="4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06" y="2157016"/>
            <a:ext cx="5511265" cy="3034407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269" y="2157016"/>
            <a:ext cx="5981550" cy="39545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54110" y="5363964"/>
            <a:ext cx="457189" cy="457200"/>
          </a:xfrm>
          <a:prstGeom prst="rect">
            <a:avLst/>
          </a:prstGeom>
          <a:solidFill>
            <a:srgbClr val="42B05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92534" y="1699816"/>
            <a:ext cx="319774" cy="31978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5" name="Shape 12"/>
          <p:cNvSpPr/>
          <p:nvPr/>
        </p:nvSpPr>
        <p:spPr>
          <a:xfrm>
            <a:off x="9354110" y="5897662"/>
            <a:ext cx="179879" cy="179884"/>
          </a:xfrm>
          <a:prstGeom prst="rect">
            <a:avLst/>
          </a:prstGeom>
          <a:solidFill>
            <a:srgbClr val="2E946B"/>
          </a:solidFill>
          <a:ln/>
        </p:spPr>
      </p:sp>
      <p:sp>
        <p:nvSpPr>
          <p:cNvPr id="16" name="Text 13"/>
          <p:cNvSpPr/>
          <p:nvPr/>
        </p:nvSpPr>
        <p:spPr>
          <a:xfrm>
            <a:off x="767239" y="370582"/>
            <a:ext cx="2833021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Results</a:t>
            </a:r>
            <a:endParaRPr lang="en-US" sz="4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32" y="1559123"/>
            <a:ext cx="5981550" cy="50735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795200">
            <a:off x="6497575" y="3424236"/>
            <a:ext cx="6965379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778000">
            <a:off x="6944145" y="5264944"/>
            <a:ext cx="5725374" cy="9525"/>
          </a:xfrm>
          <a:prstGeom prst="rect">
            <a:avLst/>
          </a:prstGeom>
          <a:solidFill>
            <a:srgbClr val="5FCBE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1176" y="-8434"/>
            <a:ext cx="3007245" cy="6866434"/>
          </a:xfrm>
          <a:custGeom>
            <a:avLst/>
            <a:gdLst/>
            <a:ahLst/>
            <a:cxnLst/>
            <a:rect l="l" t="t" r="r" b="b"/>
            <a:pathLst>
              <a:path w="3007245" h="6866434">
                <a:moveTo>
                  <a:pt x="2045528" y="0"/>
                </a:moveTo>
                <a:lnTo>
                  <a:pt x="3007245" y="0"/>
                </a:lnTo>
                <a:lnTo>
                  <a:pt x="3007245" y="6866434"/>
                </a:lnTo>
                <a:lnTo>
                  <a:pt x="0" y="6866434"/>
                </a:lnTo>
                <a:lnTo>
                  <a:pt x="2045528" y="0"/>
                </a:lnTo>
                <a:close/>
              </a:path>
            </a:pathLst>
          </a:custGeom>
          <a:solidFill>
            <a:srgbClr val="5FCBEF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3242" y="-8434"/>
            <a:ext cx="2588354" cy="6866434"/>
          </a:xfrm>
          <a:custGeom>
            <a:avLst/>
            <a:gdLst/>
            <a:ahLst/>
            <a:cxnLst/>
            <a:rect l="l" t="t" r="r" b="b"/>
            <a:pathLst>
              <a:path w="2588354" h="6866434">
                <a:moveTo>
                  <a:pt x="0" y="0"/>
                </a:moveTo>
                <a:lnTo>
                  <a:pt x="2588354" y="0"/>
                </a:lnTo>
                <a:lnTo>
                  <a:pt x="2588354" y="6866434"/>
                </a:lnTo>
                <a:lnTo>
                  <a:pt x="120927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5FCBE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32044" y="3048000"/>
            <a:ext cx="3259552" cy="3810000"/>
          </a:xfrm>
          <a:custGeom>
            <a:avLst/>
            <a:gdLst/>
            <a:ahLst/>
            <a:cxnLst/>
            <a:rect l="l" t="t" r="r" b="b"/>
            <a:pathLst>
              <a:path w="3259552" h="3810000">
                <a:moveTo>
                  <a:pt x="0" y="3810000"/>
                </a:moveTo>
                <a:lnTo>
                  <a:pt x="3259552" y="0"/>
                </a:lnTo>
                <a:lnTo>
                  <a:pt x="3259552" y="3810000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266" y="-8434"/>
            <a:ext cx="2854254" cy="6866434"/>
          </a:xfrm>
          <a:custGeom>
            <a:avLst/>
            <a:gdLst/>
            <a:ahLst/>
            <a:cxnLst/>
            <a:rect l="l" t="t" r="r" b="b"/>
            <a:pathLst>
              <a:path w="2854254" h="6866434">
                <a:moveTo>
                  <a:pt x="0" y="0"/>
                </a:moveTo>
                <a:lnTo>
                  <a:pt x="2854254" y="0"/>
                </a:lnTo>
                <a:lnTo>
                  <a:pt x="2854254" y="6866434"/>
                </a:lnTo>
                <a:lnTo>
                  <a:pt x="2470642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17B0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8411" y="-8434"/>
            <a:ext cx="1290010" cy="6866434"/>
          </a:xfrm>
          <a:custGeom>
            <a:avLst/>
            <a:gdLst/>
            <a:ahLst/>
            <a:cxnLst/>
            <a:rect l="l" t="t" r="r" b="b"/>
            <a:pathLst>
              <a:path w="1290010" h="6866434">
                <a:moveTo>
                  <a:pt x="1019624" y="0"/>
                </a:moveTo>
                <a:lnTo>
                  <a:pt x="1290010" y="0"/>
                </a:lnTo>
                <a:lnTo>
                  <a:pt x="1290010" y="6866434"/>
                </a:lnTo>
                <a:lnTo>
                  <a:pt x="0" y="6866434"/>
                </a:lnTo>
                <a:lnTo>
                  <a:pt x="1019624" y="0"/>
                </a:lnTo>
                <a:close/>
              </a:path>
            </a:pathLst>
          </a:custGeom>
          <a:solidFill>
            <a:srgbClr val="2E83C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693" y="-8434"/>
            <a:ext cx="1249728" cy="6866434"/>
          </a:xfrm>
          <a:custGeom>
            <a:avLst/>
            <a:gdLst/>
            <a:ahLst/>
            <a:cxnLst/>
            <a:rect l="l" t="t" r="r" b="b"/>
            <a:pathLst>
              <a:path w="1249728" h="6866434">
                <a:moveTo>
                  <a:pt x="0" y="0"/>
                </a:moveTo>
                <a:lnTo>
                  <a:pt x="1249728" y="0"/>
                </a:lnTo>
                <a:lnTo>
                  <a:pt x="1249728" y="6866434"/>
                </a:lnTo>
                <a:lnTo>
                  <a:pt x="1109259" y="6866434"/>
                </a:lnTo>
                <a:lnTo>
                  <a:pt x="0" y="0"/>
                </a:lnTo>
                <a:close/>
              </a:path>
            </a:pathLst>
          </a:custGeom>
          <a:solidFill>
            <a:srgbClr val="226292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71374" y="3589834"/>
            <a:ext cx="1817047" cy="3268067"/>
          </a:xfrm>
          <a:custGeom>
            <a:avLst/>
            <a:gdLst/>
            <a:ahLst/>
            <a:cxnLst/>
            <a:rect l="l" t="t" r="r" b="b"/>
            <a:pathLst>
              <a:path w="1817047" h="3268067">
                <a:moveTo>
                  <a:pt x="0" y="3268067"/>
                </a:moveTo>
                <a:lnTo>
                  <a:pt x="1817047" y="0"/>
                </a:lnTo>
                <a:lnTo>
                  <a:pt x="1817047" y="3268067"/>
                </a:lnTo>
                <a:close/>
              </a:path>
            </a:pathLst>
          </a:custGeom>
          <a:solidFill>
            <a:srgbClr val="17B0E4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6582" y="4013200"/>
            <a:ext cx="448656" cy="2844800"/>
          </a:xfrm>
          <a:custGeom>
            <a:avLst/>
            <a:gdLst/>
            <a:ahLst/>
            <a:cxnLst/>
            <a:rect l="l" t="t" r="r" b="b"/>
            <a:pathLst>
              <a:path w="448656" h="2844800">
                <a:moveTo>
                  <a:pt x="0" y="2844800"/>
                </a:moveTo>
                <a:lnTo>
                  <a:pt x="0" y="0"/>
                </a:lnTo>
                <a:lnTo>
                  <a:pt x="448656" y="2844800"/>
                </a:lnTo>
                <a:close/>
              </a:path>
            </a:pathLst>
          </a:custGeom>
          <a:solidFill>
            <a:srgbClr val="5FCBEF">
              <a:alpha val="7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61" y="6471841"/>
            <a:ext cx="2143071" cy="1929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86840" y="6483152"/>
            <a:ext cx="320418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946B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6582" y="3467596"/>
            <a:ext cx="458181" cy="395089"/>
          </a:xfrm>
          <a:custGeom>
            <a:avLst/>
            <a:gdLst/>
            <a:ahLst/>
            <a:cxnLst/>
            <a:rect l="l" t="t" r="r" b="b"/>
            <a:pathLst>
              <a:path w="458181" h="395089">
                <a:moveTo>
                  <a:pt x="98784" y="0"/>
                </a:moveTo>
                <a:lnTo>
                  <a:pt x="359397" y="0"/>
                </a:lnTo>
                <a:lnTo>
                  <a:pt x="458181" y="197545"/>
                </a:lnTo>
                <a:lnTo>
                  <a:pt x="359397" y="395089"/>
                </a:lnTo>
                <a:lnTo>
                  <a:pt x="98784" y="395089"/>
                </a:lnTo>
                <a:lnTo>
                  <a:pt x="0" y="197545"/>
                </a:lnTo>
                <a:close/>
              </a:path>
            </a:pathLst>
          </a:custGeom>
          <a:solidFill>
            <a:srgbClr val="5FCBE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113016" y="2394645"/>
            <a:ext cx="358369" cy="308967"/>
          </a:xfrm>
          <a:custGeom>
            <a:avLst/>
            <a:gdLst/>
            <a:ahLst/>
            <a:cxnLst/>
            <a:rect l="l" t="t" r="r" b="b"/>
            <a:pathLst>
              <a:path w="358369" h="308967">
                <a:moveTo>
                  <a:pt x="77229" y="0"/>
                </a:moveTo>
                <a:lnTo>
                  <a:pt x="281141" y="0"/>
                </a:lnTo>
                <a:lnTo>
                  <a:pt x="358369" y="154484"/>
                </a:lnTo>
                <a:lnTo>
                  <a:pt x="281141" y="308967"/>
                </a:lnTo>
                <a:lnTo>
                  <a:pt x="77229" y="308967"/>
                </a:lnTo>
                <a:lnTo>
                  <a:pt x="0" y="154484"/>
                </a:lnTo>
                <a:close/>
              </a:path>
            </a:pathLst>
          </a:custGeom>
          <a:solidFill>
            <a:srgbClr val="2E83C3"/>
          </a:solidFill>
          <a:ln/>
        </p:spPr>
      </p:sp>
      <p:sp>
        <p:nvSpPr>
          <p:cNvPr id="16" name="Shape 13"/>
          <p:cNvSpPr/>
          <p:nvPr/>
        </p:nvSpPr>
        <p:spPr>
          <a:xfrm>
            <a:off x="10882338" y="2202160"/>
            <a:ext cx="230579" cy="198834"/>
          </a:xfrm>
          <a:custGeom>
            <a:avLst/>
            <a:gdLst/>
            <a:ahLst/>
            <a:cxnLst/>
            <a:rect l="l" t="t" r="r" b="b"/>
            <a:pathLst>
              <a:path w="230579" h="198834">
                <a:moveTo>
                  <a:pt x="49713" y="0"/>
                </a:moveTo>
                <a:lnTo>
                  <a:pt x="180866" y="0"/>
                </a:lnTo>
                <a:lnTo>
                  <a:pt x="230579" y="99417"/>
                </a:lnTo>
                <a:lnTo>
                  <a:pt x="180866" y="198834"/>
                </a:lnTo>
                <a:lnTo>
                  <a:pt x="49713" y="198834"/>
                </a:lnTo>
                <a:lnTo>
                  <a:pt x="0" y="99417"/>
                </a:lnTo>
                <a:close/>
              </a:path>
            </a:pathLst>
          </a:custGeom>
          <a:solidFill>
            <a:srgbClr val="EBEBEB"/>
          </a:solidFill>
          <a:ln/>
        </p:spPr>
      </p:sp>
      <p:sp>
        <p:nvSpPr>
          <p:cNvPr id="17" name="Text 14"/>
          <p:cNvSpPr/>
          <p:nvPr/>
        </p:nvSpPr>
        <p:spPr>
          <a:xfrm>
            <a:off x="523366" y="690463"/>
            <a:ext cx="11156869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Conclusion / Thank You</a:t>
            </a:r>
            <a:endParaRPr lang="en-US" sz="4300" dirty="0"/>
          </a:p>
        </p:txBody>
      </p:sp>
      <p:sp>
        <p:nvSpPr>
          <p:cNvPr id="18" name="Text 15"/>
          <p:cNvSpPr/>
          <p:nvPr/>
        </p:nvSpPr>
        <p:spPr>
          <a:xfrm>
            <a:off x="1454114" y="1841500"/>
            <a:ext cx="8140496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Across 5,190 records, reduced activity had the strongest positive correlation with doctor visits. Illness score and chronic-condition status showed differences in average visits. Gender averages differed; age had a weaker positive relationship, and income a weak negative relationship. </a:t>
            </a:r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Interpretation:</a:t>
            </a:r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These observed associations do not establish causation.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819033" y="4642941"/>
            <a:ext cx="1956842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Mehak Abid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B.Tech. CSE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Jamia Hamdard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82515" y="4642941"/>
            <a:ext cx="195684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VOIS × AICTE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TIRTC DIY 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2026-10-03T19:27:32Z</dcterms:created>
  <dcterms:modified xsi:type="dcterms:W3CDTF">2026-10-03T19:27:32Z</dcterms:modified>
</cp:coreProperties>
</file>